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9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7" r:id="rId17"/>
    <p:sldId id="261" r:id="rId18"/>
    <p:sldId id="27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105" autoAdjust="0"/>
  </p:normalViewPr>
  <p:slideViewPr>
    <p:cSldViewPr snapToGrid="0" snapToObjects="1">
      <p:cViewPr varScale="1">
        <p:scale>
          <a:sx n="96" d="100"/>
          <a:sy n="96" d="100"/>
        </p:scale>
        <p:origin x="10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75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TF -Term </a:t>
            </a:r>
            <a:r>
              <a:rPr lang="en-US" dirty="0"/>
              <a:t>Frequency</a:t>
            </a:r>
          </a:p>
          <a:p>
            <a:r>
              <a:rPr lang="en-US" dirty="0"/>
              <a:t>IDF – Inverse Document 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905" y="100608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611147" y="1387080"/>
            <a:ext cx="389591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90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Masterclass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72905" y="2459385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Academia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78105" y="2939911"/>
            <a:ext cx="762000" cy="381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7097" y="4524834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3-Hour Workshop • January 2026</a:t>
            </a:r>
            <a:endParaRPr lang="en-US" sz="10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5B4F2B1-45D6-4347-E4E6-CE3D8AD18CF4}"/>
              </a:ext>
            </a:extLst>
          </p:cNvPr>
          <p:cNvSpPr/>
          <p:nvPr/>
        </p:nvSpPr>
        <p:spPr>
          <a:xfrm>
            <a:off x="0" y="3552066"/>
            <a:ext cx="9144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  <a:spcAft>
                <a:spcPts val="3000"/>
              </a:spcAft>
            </a:pPr>
            <a:r>
              <a:rPr lang="en-US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Naveen Bhat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E58A2BC-451F-DB11-A2CB-84E5C9C386C0}"/>
              </a:ext>
            </a:extLst>
          </p:cNvPr>
          <p:cNvSpPr/>
          <p:nvPr/>
        </p:nvSpPr>
        <p:spPr>
          <a:xfrm>
            <a:off x="0" y="3817440"/>
            <a:ext cx="9144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  <a:spcAft>
                <a:spcPts val="3000"/>
              </a:spcAft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&amp; Co-Founder, Aykan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4F447B7-1AEF-7722-6B85-F2821E00ABD4}"/>
              </a:ext>
            </a:extLst>
          </p:cNvPr>
          <p:cNvSpPr/>
          <p:nvPr/>
        </p:nvSpPr>
        <p:spPr>
          <a:xfrm>
            <a:off x="0" y="3306960"/>
            <a:ext cx="9144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  <a:spcAft>
                <a:spcPts val="3000"/>
              </a:spcAft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22261" y="819150"/>
            <a:ext cx="1924050" cy="3943350"/>
          </a:xfrm>
          <a:prstGeom prst="roundRect">
            <a:avLst>
              <a:gd name="adj" fmla="val 396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50861" y="1047750"/>
            <a:ext cx="14961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0861" y="1916311"/>
            <a:ext cx="14961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RAG?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50861" y="2384822"/>
            <a:ext cx="14961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the solution, and the future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911" y="819150"/>
            <a:ext cx="1924050" cy="3943350"/>
          </a:xfrm>
          <a:prstGeom prst="roundRect">
            <a:avLst>
              <a:gd name="adj" fmla="val 396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03511" y="1047750"/>
            <a:ext cx="14961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03511" y="1916311"/>
            <a:ext cx="14961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03511" y="2384822"/>
            <a:ext cx="14961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Architectures, strategies, and patterns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7561" y="819150"/>
            <a:ext cx="1924050" cy="3943350"/>
          </a:xfrm>
          <a:prstGeom prst="roundRect">
            <a:avLst>
              <a:gd name="adj" fmla="val 396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56161" y="1047750"/>
            <a:ext cx="14961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856161" y="1916311"/>
            <a:ext cx="14961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56161" y="2384822"/>
            <a:ext cx="14961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RAG in action with real documents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0000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RAG?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1042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Knowledge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65014"/>
            <a:ext cx="3762375" cy="868561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065014"/>
            <a:ext cx="0" cy="86856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1500" y="1217414"/>
            <a:ext cx="34878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🧊 Stale Knowledge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461195"/>
            <a:ext cx="34878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cutoff means outdated information. Ask about 2026 events and get 2024 answers.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85975"/>
            <a:ext cx="3762375" cy="70857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085975"/>
            <a:ext cx="0" cy="7085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1500" y="2238375"/>
            <a:ext cx="34878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Private Data Blindness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482155"/>
            <a:ext cx="348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can't access your policies, research, or internal documents.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946946"/>
            <a:ext cx="3762375" cy="70857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946946"/>
            <a:ext cx="0" cy="70857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" y="3099346"/>
            <a:ext cx="34878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Hallucination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343126"/>
            <a:ext cx="348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but wrong answers. Makes up citations, invents facts.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807916"/>
            <a:ext cx="3762375" cy="708571"/>
          </a:xfrm>
          <a:prstGeom prst="rect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807916"/>
            <a:ext cx="0" cy="70857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1500" y="3960316"/>
            <a:ext cx="34878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Domain Gaps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4204097"/>
            <a:ext cx="3487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responses for specialized fields. No deep expertise.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29125" y="1686074"/>
            <a:ext cx="4333875" cy="2209354"/>
          </a:xfrm>
          <a:prstGeom prst="roundRect">
            <a:avLst>
              <a:gd name="adj" fmla="val 517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86799" y="1971824"/>
            <a:ext cx="8183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52861" y="2489895"/>
            <a:ext cx="2086404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LLMs know</a:t>
            </a:r>
            <a:endParaRPr lang="en-US" sz="2100" dirty="0"/>
          </a:p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100" dirty="0"/>
          </a:p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228600"/>
            <a:ext cx="6296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RAG: The Elegant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36056" y="952796"/>
            <a:ext cx="870645" cy="733276"/>
          </a:xfrm>
          <a:prstGeom prst="roundRect">
            <a:avLst>
              <a:gd name="adj" fmla="val 1039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60522" y="1067096"/>
            <a:ext cx="4217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60522" y="1425176"/>
            <a:ext cx="421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759101" y="1186010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2824" y="952796"/>
            <a:ext cx="993130" cy="733276"/>
          </a:xfrm>
          <a:prstGeom prst="roundRect">
            <a:avLst>
              <a:gd name="adj" fmla="val 1039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46065" y="1067096"/>
            <a:ext cx="5466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6065" y="1425176"/>
            <a:ext cx="546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68354" y="1186010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32078" y="952796"/>
            <a:ext cx="975717" cy="733276"/>
          </a:xfrm>
          <a:prstGeom prst="roundRect">
            <a:avLst>
              <a:gd name="adj" fmla="val 10392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55493" y="1067096"/>
            <a:ext cx="52888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55493" y="1425176"/>
            <a:ext cx="52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186136"/>
            <a:ext cx="1781175" cy="1617018"/>
          </a:xfrm>
          <a:prstGeom prst="roundRect">
            <a:avLst>
              <a:gd name="adj" fmla="val 4712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77581" y="2338536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0936" y="2993827"/>
            <a:ext cx="10013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Documents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18636" y="3357563"/>
            <a:ext cx="150590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PDFs, policies, research papers, internal docs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276475" y="286122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81275" y="2186136"/>
            <a:ext cx="1781175" cy="1617018"/>
          </a:xfrm>
          <a:prstGeom prst="roundRect">
            <a:avLst>
              <a:gd name="adj" fmla="val 4712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77856" y="2338536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96298" y="2993827"/>
            <a:ext cx="7511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718911" y="3357563"/>
            <a:ext cx="150590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embeddings enable meaning-based search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476750" y="286122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81550" y="2186136"/>
            <a:ext cx="1781175" cy="1617018"/>
          </a:xfrm>
          <a:prstGeom prst="roundRect">
            <a:avLst>
              <a:gd name="adj" fmla="val 4712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78131" y="2338536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08679" y="2993827"/>
            <a:ext cx="9267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Retrieval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19186" y="3357563"/>
            <a:ext cx="150590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most relevant chunks for any query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677025" y="2861221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81825" y="2186136"/>
            <a:ext cx="1781175" cy="1617018"/>
          </a:xfrm>
          <a:prstGeom prst="roundRect">
            <a:avLst>
              <a:gd name="adj" fmla="val 471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78406" y="2338536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27283" y="2993827"/>
            <a:ext cx="10901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119461" y="3357563"/>
            <a:ext cx="150590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using actual sources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81000" y="4436864"/>
            <a:ext cx="8382000" cy="420886"/>
          </a:xfrm>
          <a:prstGeom prst="roundRect">
            <a:avLst>
              <a:gd name="adj" fmla="val 1810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1206" y="4560689"/>
            <a:ext cx="8141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RAG gives LLMs access to YOUR data at query time, without retraining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7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RAG? The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760512"/>
            <a:ext cx="2686050" cy="2114104"/>
          </a:xfrm>
          <a:prstGeom prst="roundRect">
            <a:avLst>
              <a:gd name="adj" fmla="val 360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970062"/>
            <a:ext cx="23122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0550" y="145003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Quick to implement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90550" y="1806178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infrastructure needed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90550" y="2162324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Limited by context window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90550" y="2518470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scale to large docs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19450" y="760512"/>
            <a:ext cx="2686050" cy="2114104"/>
          </a:xfrm>
          <a:prstGeom prst="roundRect">
            <a:avLst>
              <a:gd name="adj" fmla="val 3604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000" y="970062"/>
            <a:ext cx="23122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45003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Deep knowledge integration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429000" y="1806178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Behavior customization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162324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Expensive (GPU, time)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29000" y="2518470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Static once trained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57900" y="750987"/>
            <a:ext cx="2705100" cy="2133154"/>
          </a:xfrm>
          <a:prstGeom prst="roundRect">
            <a:avLst>
              <a:gd name="adj" fmla="val 3572"/>
            </a:avLst>
          </a:prstGeom>
          <a:solidFill>
            <a:srgbClr val="D1FAE5"/>
          </a:solidFill>
          <a:ln w="2857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6975" y="970062"/>
            <a:ext cx="23122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6975" y="145003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Dynamic updates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276975" y="1806178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 attribution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76975" y="2162324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Cost-effective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76975" y="2518470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Privacy-preserving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81000" y="3246983"/>
            <a:ext cx="5359450" cy="1430387"/>
          </a:xfrm>
          <a:prstGeom prst="roundRect">
            <a:avLst>
              <a:gd name="adj" fmla="val 532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45234" y="3475583"/>
            <a:ext cx="12308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BENEFITS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31463" y="3890814"/>
            <a:ext cx="93769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31463" y="4302175"/>
            <a:ext cx="9376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Hallucination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636962" y="3890814"/>
            <a:ext cx="8930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36962" y="4302175"/>
            <a:ext cx="8930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Sources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798286" y="3890814"/>
            <a:ext cx="89124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3798286" y="4302175"/>
            <a:ext cx="8912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Needed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930950" y="2998440"/>
            <a:ext cx="2832050" cy="1927473"/>
          </a:xfrm>
          <a:prstGeom prst="roundRect">
            <a:avLst>
              <a:gd name="adj" fmla="val 3953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52246" y="3188940"/>
            <a:ext cx="5894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82641" y="3577530"/>
            <a:ext cx="11286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Research assistance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895433" y="3914626"/>
            <a:ext cx="9029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Policy Q&amp;A bots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827121" y="4251722"/>
            <a:ext cx="10395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Document analysis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856723" y="4588818"/>
            <a:ext cx="980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Knowledge bases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7350" y="1485007"/>
            <a:ext cx="5829300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036951" y="2345239"/>
            <a:ext cx="30700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Approaches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335487" y="3265822"/>
            <a:ext cx="5715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19129" y="3504685"/>
            <a:ext cx="58293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Architectures, Retrieval Strategies &amp; Advanced Patterns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Evolution: Three Generations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970782"/>
            <a:ext cx="2463850" cy="1735187"/>
          </a:xfrm>
          <a:prstGeom prst="roundRect">
            <a:avLst>
              <a:gd name="adj" fmla="val 439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123182"/>
            <a:ext cx="22022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2020-2021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33400" y="2326928"/>
            <a:ext cx="22022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RAG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2635448"/>
            <a:ext cx="22022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→ Retrieve → Generate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533400" y="2882057"/>
            <a:ext cx="2159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3400" y="298206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Simple implementation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3400" y="315351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query optimization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332496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Fixed chunking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97250" y="27051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40150" y="1970782"/>
            <a:ext cx="2463850" cy="1735187"/>
          </a:xfrm>
          <a:prstGeom prst="roundRect">
            <a:avLst>
              <a:gd name="adj" fmla="val 4391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2550" y="2123182"/>
            <a:ext cx="22022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2022-2023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92550" y="2326928"/>
            <a:ext cx="22022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2550" y="2635448"/>
            <a:ext cx="22022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+ Post Processing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3492550" y="2882057"/>
            <a:ext cx="2159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92550" y="298206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Query rewriting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92550" y="315351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Hybrid retrieval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92550" y="3324969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Reranking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56399" y="27051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9299" y="1951732"/>
            <a:ext cx="2463850" cy="1773287"/>
          </a:xfrm>
          <a:prstGeom prst="roundRect">
            <a:avLst>
              <a:gd name="adj" fmla="val 4297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70749" y="2123182"/>
            <a:ext cx="2163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2024+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470749" y="2326928"/>
            <a:ext cx="21633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RAG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0749" y="2635448"/>
            <a:ext cx="2163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Components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470749" y="2882057"/>
            <a:ext cx="21209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0749" y="2982069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Routing &amp; planning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70749" y="3153519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Self-correction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70749" y="3324969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Multi-source fusion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Strategies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63104"/>
            <a:ext cx="4095750" cy="1584871"/>
          </a:xfrm>
          <a:prstGeom prst="roundRect">
            <a:avLst>
              <a:gd name="adj" fmla="val 480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53604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Retrieval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71500" y="1729829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 capture semantic meaning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71500" y="1971675"/>
            <a:ext cx="3714750" cy="4572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2047875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 on mat" → [0.23, -0.45, ...]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7700" y="2219325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"feline on rug" → similar vector!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1500" y="2524125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Semantic matching, concepts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3000375"/>
            <a:ext cx="4095750" cy="1413421"/>
          </a:xfrm>
          <a:prstGeom prst="roundRect">
            <a:avLst>
              <a:gd name="adj" fmla="val 539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190875"/>
            <a:ext cx="37890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Retrieval (BM25)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346710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  <a:spcAft>
                <a:spcPts val="750"/>
              </a:spcAft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 with TF-IDF (Term Freq – Inverse Doc Freq) scoring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3708946"/>
            <a:ext cx="371475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7700" y="3785146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"refund policy" → exact match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71500" y="4089946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Exact terms, legal docs, code</a:t>
            </a:r>
            <a:endParaRPr lang="en-US" sz="750" dirty="0"/>
          </a:p>
        </p:txBody>
      </p:sp>
      <p:pic>
        <p:nvPicPr>
          <p:cNvPr id="16" name="Image 0" descr="/tmp/rasterized-gradient-62e543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476375"/>
            <a:ext cx="4095750" cy="173340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86325" y="1695450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⭐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4886325" y="1971675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 via Reciprocal Rank Fusion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86325" y="2232571"/>
            <a:ext cx="3657600" cy="758130"/>
          </a:xfrm>
          <a:prstGeom prst="roundRect">
            <a:avLst>
              <a:gd name="adj" fmla="val 5026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46904" y="2327821"/>
            <a:ext cx="353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Results + Sparse Results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946904" y="2518321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RRF ↓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46904" y="2762101"/>
            <a:ext cx="3536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Merged, Reranked Results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RAG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92721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426071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Transformation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4350" y="166985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Expand, rewrite, or decompose queries for better retrieval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14350" y="1879402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936552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sky blue?" → "Rayleigh scattering", "light wavelength"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81000" y="2361307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494657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RAG-Fusion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2738438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multiple query variants, fuse results with RRF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14350" y="2947988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3005138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→ [Q1, Q2, Q3] → Retrieve each → Merge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429893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3563243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380702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decides: retrieve? relevant? supported? useful?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4350" y="4016573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4073723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at each step, re-retrieve if needed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48200" y="1292721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1550" y="1426071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 (Corrective RAG)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1550" y="1669852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retrieval quality → correct/ambiguous/wrong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81550" y="1879402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38700" y="1936552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Wrong? → Web search. Ambiguous? → Supplement.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48200" y="2361307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1550" y="2494657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81550" y="2738438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abstraction: cluster → summarize → traverse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81550" y="2947988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00000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8700" y="3005138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summaries enable both detail &amp; overview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48200" y="3429893"/>
            <a:ext cx="4114800" cy="954286"/>
          </a:xfrm>
          <a:prstGeom prst="roundRect">
            <a:avLst>
              <a:gd name="adj" fmla="val 798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1550" y="3563243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81550" y="3807023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Entity-centric graphs + community summaries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81550" y="4016573"/>
            <a:ext cx="38481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38700" y="4073723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[Einstein]──wrote──▶[Relativity]──relates──▶[Physics]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575" y="1606897"/>
            <a:ext cx="68008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866930" y="1984028"/>
            <a:ext cx="34101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RAG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86250" y="2593628"/>
            <a:ext cx="5715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71575" y="2850803"/>
            <a:ext cx="68008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RAG Learns to Think, Plan, and Act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71575" y="3376464"/>
            <a:ext cx="6800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2250"/>
              </a:spcBef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of enterprise software expected to include agentic AI by 2028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326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RAG vs Agentic RAG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34567"/>
            <a:ext cx="3197126" cy="1838176"/>
          </a:xfrm>
          <a:prstGeom prst="roundRect">
            <a:avLst>
              <a:gd name="adj" fmla="val 4145"/>
            </a:avLst>
          </a:prstGeom>
          <a:solidFill>
            <a:srgbClr val="FEE2E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706017"/>
            <a:ext cx="29113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908" y="1987897"/>
            <a:ext cx="29113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→ Retrieve → Generate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23908" y="2191643"/>
            <a:ext cx="2911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One Shot 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2450" y="2553593"/>
            <a:ext cx="2911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Static, linear workflow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52450" y="2725043"/>
            <a:ext cx="2911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reasoning or validation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52450" y="2896493"/>
            <a:ext cx="2911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Single retrieval attempt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52450" y="3067943"/>
            <a:ext cx="2911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Fixed data sources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56459" y="2266950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06826" y="1534567"/>
            <a:ext cx="4156174" cy="1838176"/>
          </a:xfrm>
          <a:prstGeom prst="roundRect">
            <a:avLst>
              <a:gd name="adj" fmla="val 4145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8276" y="1706017"/>
            <a:ext cx="38895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0143" y="1987897"/>
            <a:ext cx="38895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Retrieve → Evaluate → Adapt → Generate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40143" y="2191643"/>
            <a:ext cx="3889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Iterative Loop 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78276" y="2553593"/>
            <a:ext cx="3889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Dynamic decision-making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8276" y="2725043"/>
            <a:ext cx="3889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Self-reflection and correction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78276" y="2896493"/>
            <a:ext cx="3889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Multi-step reasoning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78276" y="3067943"/>
            <a:ext cx="3889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Tool use and multi-source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4526310"/>
            <a:ext cx="8382000" cy="426690"/>
          </a:xfrm>
          <a:prstGeom prst="roundRect">
            <a:avLst>
              <a:gd name="adj" fmla="val 1785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3197" y="4659660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Agentic RAG embeds autonomous AI agents that can plan, use tools, and collaborate to manage complex retrieval tasks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Design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29928"/>
            <a:ext cx="3740795" cy="782836"/>
          </a:xfrm>
          <a:prstGeom prst="roundRect">
            <a:avLst>
              <a:gd name="adj" fmla="val 973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463278"/>
            <a:ext cx="35435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Reflection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14350" y="1712714"/>
            <a:ext cx="3543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evaluates its own outputs, identifies gaps, and self-corrects before final response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2208014"/>
            <a:ext cx="3740795" cy="649486"/>
          </a:xfrm>
          <a:prstGeom prst="roundRect">
            <a:avLst>
              <a:gd name="adj" fmla="val 11732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341364"/>
            <a:ext cx="35435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Planning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14350" y="2590800"/>
            <a:ext cx="3543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complex queries into sub-tasks, creates execution strategy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952750"/>
            <a:ext cx="3740795" cy="649486"/>
          </a:xfrm>
          <a:prstGeom prst="roundRect">
            <a:avLst>
              <a:gd name="adj" fmla="val 11732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086100"/>
            <a:ext cx="35435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 Use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14350" y="3335536"/>
            <a:ext cx="3543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selects tools: web search, SQL, APIs, calculators, code execution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697486"/>
            <a:ext cx="3740795" cy="649486"/>
          </a:xfrm>
          <a:prstGeom prst="roundRect">
            <a:avLst>
              <a:gd name="adj" fmla="val 11732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3830836"/>
            <a:ext cx="35435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Multi-Agent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14350" y="4080272"/>
            <a:ext cx="3543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collaborate: retriever, validator, synthesizer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74195" y="1230957"/>
            <a:ext cx="4488805" cy="3214985"/>
          </a:xfrm>
          <a:prstGeom prst="roundRect">
            <a:avLst>
              <a:gd name="adj" fmla="val 2370"/>
            </a:avLst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45645" y="1402407"/>
            <a:ext cx="42288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 LOOP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45645" y="1676698"/>
            <a:ext cx="4145905" cy="533251"/>
          </a:xfrm>
          <a:prstGeom prst="roundRect">
            <a:avLst>
              <a:gd name="adj" fmla="val 1071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20772" y="1790998"/>
            <a:ext cx="39956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REASON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520772" y="1975693"/>
            <a:ext cx="39956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to find sales data for Q3..."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404186" y="2305199"/>
            <a:ext cx="42288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45645" y="2594670"/>
            <a:ext cx="4145905" cy="533251"/>
          </a:xfrm>
          <a:prstGeom prst="roundRect">
            <a:avLst>
              <a:gd name="adj" fmla="val 1071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20772" y="2708970"/>
            <a:ext cx="39956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520772" y="2893665"/>
            <a:ext cx="39956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search_database(query="Q3 sales")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404186" y="3204121"/>
            <a:ext cx="42288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45645" y="3493591"/>
            <a:ext cx="4145905" cy="533251"/>
          </a:xfrm>
          <a:prstGeom prst="roundRect">
            <a:avLst>
              <a:gd name="adj" fmla="val 1071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0772" y="3607891"/>
            <a:ext cx="39956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OBSERVE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520772" y="3792587"/>
            <a:ext cx="39956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results → Loop or Generate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404186" y="4141143"/>
            <a:ext cx="42288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task complete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RAG Architectures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16584"/>
            <a:ext cx="2857500" cy="2243733"/>
          </a:xfrm>
          <a:prstGeom prst="roundRect">
            <a:avLst>
              <a:gd name="adj" fmla="val 3396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888034"/>
            <a:ext cx="25648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 (Router)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2450" y="2188964"/>
            <a:ext cx="2514600" cy="733276"/>
          </a:xfrm>
          <a:prstGeom prst="roundRect">
            <a:avLst>
              <a:gd name="adj" fmla="val 77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3890" y="2303264"/>
            <a:ext cx="23317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3890" y="2661345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Agent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52450" y="3036540"/>
            <a:ext cx="787450" cy="504676"/>
          </a:xfrm>
          <a:prstGeom prst="roundRect">
            <a:avLst>
              <a:gd name="adj" fmla="val 7549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2300" y="3112740"/>
            <a:ext cx="647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300" y="3345061"/>
            <a:ext cx="6477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1416100" y="3036540"/>
            <a:ext cx="787450" cy="504676"/>
          </a:xfrm>
          <a:prstGeom prst="roundRect">
            <a:avLst>
              <a:gd name="adj" fmla="val 7549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85949" y="3112740"/>
            <a:ext cx="647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5949" y="3345061"/>
            <a:ext cx="6477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279749" y="3036540"/>
            <a:ext cx="787450" cy="504676"/>
          </a:xfrm>
          <a:prstGeom prst="roundRect">
            <a:avLst>
              <a:gd name="adj" fmla="val 7549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49599" y="3112740"/>
            <a:ext cx="6477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49599" y="3345061"/>
            <a:ext cx="6477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DB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27304" y="3655516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routes to multiple tools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29000" y="1827014"/>
            <a:ext cx="2857500" cy="2022872"/>
          </a:xfrm>
          <a:prstGeom prst="roundRect">
            <a:avLst>
              <a:gd name="adj" fmla="val 3767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0450" y="1998464"/>
            <a:ext cx="25648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Collaboration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00450" y="2299395"/>
            <a:ext cx="25146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72459" y="2394645"/>
            <a:ext cx="2370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72459" y="2680395"/>
            <a:ext cx="23705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00450" y="2985195"/>
            <a:ext cx="800100" cy="464641"/>
          </a:xfrm>
          <a:prstGeom prst="roundRect">
            <a:avLst>
              <a:gd name="adj" fmla="val 82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70173" y="3061395"/>
            <a:ext cx="6606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70173" y="3267075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457700" y="2985195"/>
            <a:ext cx="800100" cy="464641"/>
          </a:xfrm>
          <a:prstGeom prst="roundRect">
            <a:avLst>
              <a:gd name="adj" fmla="val 82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27423" y="3061395"/>
            <a:ext cx="6606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27423" y="3267075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314950" y="2985195"/>
            <a:ext cx="800100" cy="464641"/>
          </a:xfrm>
          <a:prstGeom prst="roundRect">
            <a:avLst>
              <a:gd name="adj" fmla="val 82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84673" y="3061395"/>
            <a:ext cx="6606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84673" y="3267075"/>
            <a:ext cx="6606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75304" y="3545086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work together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77000" y="1654820"/>
            <a:ext cx="2286000" cy="1064568"/>
          </a:xfrm>
          <a:prstGeom prst="roundRect">
            <a:avLst>
              <a:gd name="adj" fmla="val 71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10350" y="1788170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610350" y="1991916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Better quality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610350" y="2149971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Complex reasoning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610350" y="2308027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Higher latency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610350" y="2466082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More token cost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477000" y="2986088"/>
            <a:ext cx="2286000" cy="1035993"/>
          </a:xfrm>
          <a:prstGeom prst="roundRect">
            <a:avLst>
              <a:gd name="adj" fmla="val 7355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10350" y="3119438"/>
            <a:ext cx="205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610350" y="3323183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610350" y="3471714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 Agents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610350" y="3620244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6610350" y="3768775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7350" y="1485007"/>
            <a:ext cx="5829300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159054" y="2476559"/>
            <a:ext cx="29243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335486" y="2984798"/>
            <a:ext cx="5715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06586" y="3196591"/>
            <a:ext cx="58293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RAG in Action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48073"/>
            <a:ext cx="384810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48073"/>
            <a:ext cx="0" cy="6951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1500" y="1400473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solves real problems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644253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knowledge, private data, hallucinations — all addressed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076599"/>
            <a:ext cx="384810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076599"/>
            <a:ext cx="0" cy="69517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1500" y="2228999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evolve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472779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RAG → Advanced → Modular as needs grow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905125"/>
            <a:ext cx="384810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905125"/>
            <a:ext cx="0" cy="69517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" y="3057525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wins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301305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dense + sparse for best results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733651"/>
            <a:ext cx="384810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733651"/>
            <a:ext cx="0" cy="6951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1500" y="3886051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agentic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4129832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Self-correcting, graph-based, multimodal RAG coming fast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457700" y="1580406"/>
            <a:ext cx="4305300" cy="2516088"/>
          </a:xfrm>
          <a:prstGeom prst="roundRect">
            <a:avLst>
              <a:gd name="adj" fmla="val 454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6300" y="180900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206424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LangChain docs: langchain.com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26799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LlamaIndex: llamaindex.ai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247173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ChromaDB: trychroma.com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686300" y="2979241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86300" y="313640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PAPERS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6300" y="339164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et al. (2020): Original RAG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86300" y="356309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(2023): Asai et al.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86300" y="3734544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 (2024): Edge et al.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RAG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03275"/>
            <a:ext cx="386715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03275"/>
            <a:ext cx="0" cy="6951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71500" y="1355675"/>
            <a:ext cx="35947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59945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when/what to retrieve, evaluates results, re-retrieves if needed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012752"/>
            <a:ext cx="3867150" cy="841772"/>
          </a:xfrm>
          <a:prstGeom prst="roundRect">
            <a:avLst>
              <a:gd name="adj" fmla="val 905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012752"/>
            <a:ext cx="0" cy="8417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1500" y="2165152"/>
            <a:ext cx="35947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408932"/>
            <a:ext cx="359473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graphs for relationships. 20-30% less hallucination on complex queries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968823"/>
            <a:ext cx="386715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968823"/>
            <a:ext cx="0" cy="69517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1500" y="3121223"/>
            <a:ext cx="35947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365004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from images, tables, audio alongside text documents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778300"/>
            <a:ext cx="3867150" cy="695176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778300"/>
            <a:ext cx="0" cy="6951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1500" y="3930700"/>
            <a:ext cx="35947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RAG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4174480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CRAG &amp; Self-RAG: Evaluate, verify, and correct before responding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438650" y="1753791"/>
            <a:ext cx="4324350" cy="2169170"/>
          </a:xfrm>
          <a:prstGeom prst="roundRect">
            <a:avLst>
              <a:gd name="adj" fmla="val 526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23281" y="1982391"/>
            <a:ext cx="15550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2025-2027 HORIZONS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7250" y="2447181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RAG (sub-100ms)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67250" y="2715667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Privacy-preserving federated retrieval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667250" y="2984153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Adaptive "when NOT to retrieve"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67250" y="3252639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Cross-lingual knowledge retrieval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667250" y="3521125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9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Personalized user knowledge bases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9817" y="1520279"/>
            <a:ext cx="29243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190999" y="2491829"/>
            <a:ext cx="762000" cy="381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57350" y="2571750"/>
            <a:ext cx="58293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2250"/>
              </a:spcAft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714500" y="3055590"/>
            <a:ext cx="5715000" cy="567630"/>
          </a:xfrm>
          <a:prstGeom prst="roundRect">
            <a:avLst>
              <a:gd name="adj" fmla="val 1342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51660" y="3246090"/>
            <a:ext cx="54406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amazing with RAG! 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1103</Words>
  <Application>Microsoft Office PowerPoint</Application>
  <PresentationFormat>On-screen Show (16:9)</PresentationFormat>
  <Paragraphs>270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Masterclass</dc:title>
  <dc:subject>Retrieval-Augmented Generation for Academia</dc:subject>
  <dc:creator>Workshop Presentation</dc:creator>
  <cp:lastModifiedBy>Naveen Bhat</cp:lastModifiedBy>
  <cp:revision>31</cp:revision>
  <dcterms:created xsi:type="dcterms:W3CDTF">2026-01-02T18:15:53Z</dcterms:created>
  <dcterms:modified xsi:type="dcterms:W3CDTF">2026-01-07T18:08:56Z</dcterms:modified>
</cp:coreProperties>
</file>